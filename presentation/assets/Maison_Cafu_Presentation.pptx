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72200" y="3200000"/>
            <a:ext cx="6070600" cy="3200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3000" b="1" i="0" spc="-200">
                <a:solidFill>
                  <a:srgbClr val="1E1A14"/>
                </a:solidFill>
                <a:latin typeface="SF Pro Display"/>
              </a:rPr>
              <a:t>SRWA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520000"/>
            <a:ext cx="760000" cy="635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680000"/>
            <a:ext cx="96266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 spc="-120">
                <a:solidFill>
                  <a:srgbClr val="F7F3ED"/>
                </a:solidFill>
                <a:latin typeface="SF Pro Display"/>
              </a:rPr>
              <a:t>Maison Cafu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 i="0" spc="0">
                <a:solidFill>
                  <a:srgbClr val="8C8479"/>
                </a:solidFill>
                <a:latin typeface="SF Pro Text"/>
              </a:rPr>
              <a:t>A smart restaurant web app — and the craft of building it well.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5180000"/>
            <a:ext cx="31750" cy="3600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8200" y="5180000"/>
            <a:ext cx="32936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E1782D"/>
                </a:solidFill>
                <a:latin typeface="SF Pro Display"/>
              </a:rPr>
              <a:t>PROJECT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3ED"/>
                </a:solidFill>
                <a:latin typeface="SF Pro Text"/>
              </a:rPr>
              <a:t>Smart Restaurant 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5180000"/>
            <a:ext cx="31750" cy="3600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4200" y="5180000"/>
            <a:ext cx="32936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E1782D"/>
                </a:solidFill>
                <a:latin typeface="SF Pro Display"/>
              </a:rPr>
              <a:t>COURSE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3ED"/>
                </a:solidFill>
                <a:latin typeface="SF Pro Text"/>
              </a:rPr>
              <a:t>CEC418 — Software Construction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0200" y="5180000"/>
            <a:ext cx="31750" cy="3600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0200" y="5180000"/>
            <a:ext cx="32936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E1782D"/>
                </a:solidFill>
                <a:latin typeface="SF Pro Display"/>
              </a:rPr>
              <a:t>FOCUS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3ED"/>
                </a:solidFill>
                <a:latin typeface="SF Pro Text"/>
              </a:rPr>
              <a:t>5 fundamentals · Git · Docker · Jenkins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CHAPTER 1 ·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02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What is Maison Cafu?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A website for a Cameroonian restaurant. No app to download, no account — a visitor can do four simple things.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Browse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The menu — real dishes (Ndolé, Poulet DG, Mbongo Tchobi) with photos, prices and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Recommend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Add a dish and the site suggests what pairs well — like a waiter's advice.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Order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Pick dishes, set a quantity, send the order through.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Reserve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Book a table for a chosen date and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CHAPTER 2 ·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03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The three moving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Every website has three pieces. Picture a real restaurant.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Dining room → Frontend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What customers see and touch. Built with React, runs in the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Kitchen → Backend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The brain on the server. Built with PHP — receives requests, decides what to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Pantry → Database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Stores the menu, every order and reservation. MySQL.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Waiter → Recommender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A small helper that has 'seen' past orders and knows what pairs well.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CHAPTER 3 · 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04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What is Software Construction?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Construction is writing the actual code. SWEBOK lists what good construction looks like — five fundamentals. They are the spine of this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7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200" y="279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Minimizing Complexity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keep it simple, so a human can understand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7200" y="3260000"/>
            <a:ext cx="9626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33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7200" y="335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Anticipating Change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build so tomorrow's change is easy, not painful.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0" y="3820000"/>
            <a:ext cx="9626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89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7200" y="391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Constructing for Verification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build so it's easy to check that it 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27200" y="4380000"/>
            <a:ext cx="9626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45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7200" y="447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Reuse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make a part once, use it everywhere.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27200" y="4940000"/>
            <a:ext cx="9626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501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7200" y="503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Standards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everyone follows the same rulebook.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FUNDAMENTAL 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05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Minimizing Complexity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The enemy is tangled code. The goal: make each piece small and obvious.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The analogy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One tidy serving hatch — not fifty secret doors into the kitchen.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In the code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Every request to the server goes through ONE shared helper (api.ts).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Why it pays off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If the page-to-server link breaks, there is one place to look — not fifty.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Say this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“Simple code is code a stranger can read at midnight and still understand.”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FUNDAMENTAL 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06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Anticipating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Software is never finished. Good construction makes change painless.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Migrations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Database changes apply (up) AND undo themselves (down) — like a save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Settings, not hard-coding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The database address is read from the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Move servers easily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Change one setting, touch no code — a lamp with a plug, not wired into the wall.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Result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Tomorrow's change is a small, safe, reversible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FUNDAMENTAL 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07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Constructing for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Verification means proving the software is correct, through testing — made easy on purpose.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Swappable database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Tests slot in a fake, throwaway database (setConnection) — fast and safe.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One command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composer test runs every unit test; composer lint checks style.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Automated re-check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Jenkins re-runs everything on each change, even calling /api/menu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Result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Mistakes are caught before customers ever see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FUNDAMENTAL 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08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Build a part once, reuse it — less work, fewer bugs, consistent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Design tokens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Every colour and corner is defined once. Change the brand colour once — the whole site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Shared API helper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One 'api' object feeds the menu, basket, recommendations and reservations.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The analogy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A house-blend sauce mixed once and used across many dishes.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Result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Consistency for free, and half the code to maintain.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FUNDAMENTAL 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09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Standards in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Agreed rules, so the code reads like one careful author wrote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PSR-12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An automatic style checker keeps spacing and naming consistent in every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Strict types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Every PHP file turns on strict mode — mistakes are caught early, not hidden.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One config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.editorconfig gives every editor the same indentation and line endings.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Result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A codebase that looks intentional, not accidental.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PART 2 · THE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10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The tools that ship it: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Writing good code is cooking at home. DevOps turns it into a restaurant that serves the same dish, every day, to everyone.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7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200" y="279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Git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the time machine — records every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7200" y="3260000"/>
            <a:ext cx="9626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33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7200" y="335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GitHub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the shared home — the project online, one source of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0" y="3820000"/>
            <a:ext cx="9626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89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7200" y="391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Docker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the lunchbox — packs the app + all it needs to run anywhere.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27200" y="4380000"/>
            <a:ext cx="9626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450000"/>
            <a:ext cx="73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-20">
                <a:solidFill>
                  <a:srgbClr val="E1782D"/>
                </a:solidFill>
                <a:latin typeface="SF Pro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7200" y="4470000"/>
            <a:ext cx="9626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3ED"/>
                </a:solidFill>
                <a:latin typeface="SF Pro Display"/>
              </a:rPr>
              <a:t>Jenkins   </a:t>
            </a:r>
            <a:r>
              <a:rPr sz="1550" b="0" i="0">
                <a:solidFill>
                  <a:srgbClr val="CEC6BA"/>
                </a:solidFill>
                <a:latin typeface="SF Pro Text"/>
              </a:rPr>
              <a:t>the robot inspector — checks, tests and builds on every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TOOLS 01 &amp; 02 · VERSION CONTROL +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11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Git &amp;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Git remembers; GitHub shares.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Git — commits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A snapshot each time you finish work — like save points in a game. Nothing is ever lost.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Git — tidy history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Commits are labelled (feat:, chore:) so the project's story reads clearly.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GitHub — the home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Puts the history online: one source of truth for the team and the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Why it matters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Jenkins and the host watch GitHub and react when new code arrives.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TOOL 03 ·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12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Docker — the lunchbox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Ends the “it works on my computer”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The container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Packs the app AND everything it needs — exact PHP, extensions, settings — in one sealed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Same everywhere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Open the box on any computer and it runs identically: laptop or cloud.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One command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docker-compose starts the whole restaurant — PHP, MySQL, web server —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Your claim — correct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“Docker containerizes the app so it moves local → cloud without breaking.”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TOOL 04 · AUTOMATION (CI/CD)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13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000000"/>
            <a:ext cx="9626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 spc="-30">
                <a:solidFill>
                  <a:srgbClr val="F7F3ED"/>
                </a:solidFill>
                <a:latin typeface="SF Pro Display"/>
              </a:rPr>
              <a:t>Jenkins — the robot inspector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0000"/>
            <a:ext cx="660000" cy="508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050000"/>
            <a:ext cx="8737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EC6BA"/>
                </a:solidFill>
                <a:latin typeface="SF Pro Text"/>
              </a:rPr>
              <a:t>On every change, Jenkins runs a fixed checklist automatically. Fail a step — the code can't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82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The pipeline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Checkout → install → lint &amp; style → unit tests → build image → smoke test → deploy.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273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8400" y="293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Testing &amp; shipping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That is Jenkins' real job — proving the code works, then releasing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2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On migrations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It runs a migration ONLY to build a throwaway test database for the smoke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4450000"/>
            <a:ext cx="5105400" cy="1520000"/>
          </a:xfrm>
          <a:prstGeom prst="roundRect">
            <a:avLst>
              <a:gd name="adj" fmla="val 4500"/>
            </a:avLst>
          </a:prstGeom>
          <a:solidFill>
            <a:srgbClr val="1A1610"/>
          </a:solidFill>
          <a:ln w="9525">
            <a:solidFill>
              <a:srgbClr val="332E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400" y="4650000"/>
            <a:ext cx="4705400" cy="1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 spc="10">
                <a:solidFill>
                  <a:srgbClr val="E1782D"/>
                </a:solidFill>
                <a:latin typeface="SF Pro Display"/>
              </a:rPr>
              <a:t>Who owns migrations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EC6BA"/>
                </a:solidFill>
                <a:latin typeface="SF Pro Text"/>
              </a:rPr>
              <a:t>Phinx does — Jenkins just presses the button during integration testing.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620000"/>
            <a:ext cx="7848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E1782D"/>
                </a:solidFill>
                <a:latin typeface="SF Pro Display"/>
              </a:rPr>
              <a:t>FINALE · THE 60-SECOND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39200" y="620000"/>
            <a:ext cx="2514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7F3ED"/>
                </a:solidFill>
                <a:latin typeface="SF Pro Display"/>
              </a:rPr>
              <a:t>14</a:t>
            </a:r>
            <a:r>
              <a:rPr sz="1250" b="0" i="0" spc="120">
                <a:solidFill>
                  <a:srgbClr val="8C8479"/>
                </a:solidFill>
                <a:latin typeface="SF Pro Display"/>
              </a:rPr>
              <a:t>  / 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700000"/>
            <a:ext cx="760000" cy="63500"/>
          </a:xfrm>
          <a:prstGeom prst="rect">
            <a:avLst/>
          </a:prstGeom>
          <a:solidFill>
            <a:srgbClr val="E17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050000"/>
            <a:ext cx="9626600" cy="3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F7F3ED"/>
                </a:solidFill>
                <a:latin typeface="SF Pro Display"/>
              </a:rPr>
              <a:t>“Maison Cafu is a React </a:t>
            </a:r>
            <a:r>
              <a:rPr sz="2500" b="1" i="1">
                <a:solidFill>
                  <a:srgbClr val="E1782D"/>
                </a:solidFill>
                <a:latin typeface="SF Pro Display"/>
              </a:rPr>
              <a:t>frontend</a:t>
            </a:r>
            <a:r>
              <a:rPr sz="2500" b="0" i="1">
                <a:solidFill>
                  <a:srgbClr val="F7F3ED"/>
                </a:solidFill>
                <a:latin typeface="SF Pro Display"/>
              </a:rPr>
              <a:t>, a PHP </a:t>
            </a:r>
            <a:r>
              <a:rPr sz="2500" b="1" i="1">
                <a:solidFill>
                  <a:srgbClr val="E1782D"/>
                </a:solidFill>
                <a:latin typeface="SF Pro Display"/>
              </a:rPr>
              <a:t>backend</a:t>
            </a:r>
            <a:r>
              <a:rPr sz="2500" b="0" i="1">
                <a:solidFill>
                  <a:srgbClr val="F7F3ED"/>
                </a:solidFill>
                <a:latin typeface="SF Pro Display"/>
              </a:rPr>
              <a:t>, and a MySQL </a:t>
            </a:r>
            <a:r>
              <a:rPr sz="2500" b="1" i="1">
                <a:solidFill>
                  <a:srgbClr val="E1782D"/>
                </a:solidFill>
                <a:latin typeface="SF Pro Display"/>
              </a:rPr>
              <a:t>database</a:t>
            </a:r>
            <a:r>
              <a:rPr sz="2500" b="0" i="1">
                <a:solidFill>
                  <a:srgbClr val="F7F3ED"/>
                </a:solidFill>
                <a:latin typeface="SF Pro Display"/>
              </a:rPr>
              <a:t>. It minimizes complexity, anticipates change, is built for verification, reuses design tokens and a shared API, and follows standards like PSR-12. Git tracks every change, GitHub is the shared home, Docker makes it run anywhere, and Jenkins tests and builds it on every change.”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450000"/>
            <a:ext cx="96266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">
                <a:solidFill>
                  <a:srgbClr val="E1782D"/>
                </a:solidFill>
                <a:latin typeface="SF Pro Display"/>
              </a:rPr>
              <a:t>Five fundamentals</a:t>
            </a:r>
            <a:r>
              <a:rPr sz="1400" b="0" i="0">
                <a:solidFill>
                  <a:srgbClr val="8C8479"/>
                </a:solidFill>
                <a:latin typeface="SF Pro Text"/>
              </a:rPr>
              <a:t>   ·   four tools   ·   one clear 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6420000"/>
            <a:ext cx="10515600" cy="9525"/>
          </a:xfrm>
          <a:prstGeom prst="rect">
            <a:avLst/>
          </a:prstGeom>
          <a:solidFill>
            <a:srgbClr val="33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6490000"/>
            <a:ext cx="6959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Maison Cafu — SRWA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1200" y="6490000"/>
            <a:ext cx="4292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60">
                <a:solidFill>
                  <a:srgbClr val="8C8479"/>
                </a:solidFill>
                <a:latin typeface="SF Pro Text"/>
              </a:rPr>
              <a:t>CEC418 · Software Construction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